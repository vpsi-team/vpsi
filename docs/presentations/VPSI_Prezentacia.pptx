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3657600"/>
            <a:ext cx="2743200" cy="2743200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AUTOMATICKE PARKOVISTE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Softverovy navrh a implementacna analyza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CF0F1"/>
                </a:solidFill>
              </a:defRPr>
            </a:pPr>
            <a:r>
              <a:t>Tim Clankers  |  VPSI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Obsah prezentacie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Prehlad projektu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Co budujeme a preco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48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Architektura systemu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48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Komponenty a ich interakcie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Technologicky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Zvolene technologie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54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Datovy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Struktura a vztahy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657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Klucove funkcie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Use-cases a scenare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60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Bezpecnost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160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GDPR, autentifikacia,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63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Rozdelenie prace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Tim a oblasti zodpovednosti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66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Odhady a roadmapa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166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Casovy plan a naklady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692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669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Otazky pre klienta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669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Co potrebujeme vyjasniť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Prehlad projektu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Self-service automatizovane parkoviste</a:t>
            </a:r>
          </a:p>
          <a:p/>
          <a:p>
            <a:pPr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●  Identifikacia vozidiel cez SPZ (LPR)</a:t>
            </a:r>
          </a:p>
          <a:p>
            <a:pPr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●  Automaticke zavory na vjazde/vyjazde</a:t>
            </a:r>
          </a:p>
          <a:p>
            <a:pPr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●  Senzory obsadenosti parkovacich miest</a:t>
            </a:r>
          </a:p>
          <a:p>
            <a:pPr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●  Informacna tabula s poctom volnych miest</a:t>
            </a:r>
          </a:p>
          <a:p>
            <a:pPr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●  Platba pred odjazdom (karta/mobil/QR)</a:t>
            </a:r>
          </a:p>
          <a:p>
            <a:pPr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●  Administrativny portal pre spravu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45920"/>
            <a:ext cx="2011680" cy="128016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8288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980B9"/>
                </a:solidFill>
              </a:defRPr>
            </a:pPr>
            <a:r>
              <a:t>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423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495E"/>
                </a:solidFill>
              </a:defRPr>
            </a:pPr>
            <a:r>
              <a:t>Nepretrzita prevadzka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108960"/>
            <a:ext cx="2011680" cy="128016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329184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t>LPR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886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495E"/>
                </a:solidFill>
              </a:defRPr>
            </a:pPr>
            <a:r>
              <a:t>Rozpoznavanie SPZ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572000"/>
            <a:ext cx="2011680" cy="128016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7548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8E44AD"/>
                </a:solidFill>
              </a:defRPr>
            </a:pPr>
            <a:r>
              <a:t>GDPR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349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495E"/>
                </a:solidFill>
              </a:defRPr>
            </a:pPr>
            <a:r>
              <a:t>Plna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377440"/>
            <a:ext cx="2011680" cy="128016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5603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67E22"/>
                </a:solidFill>
              </a:defRPr>
            </a:pPr>
            <a:r>
              <a:t>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154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495E"/>
                </a:solidFill>
              </a:defRPr>
            </a:pPr>
            <a:r>
              <a:t>API integracia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840480"/>
            <a:ext cx="2011680" cy="128016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0233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MQTT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617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495E"/>
                </a:solidFill>
              </a:defRPr>
            </a:pPr>
            <a:r>
              <a:t>IoT protokol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Architektura systemu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8046720" cy="10058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FRONTEND VRSTVA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E6F0"/>
                </a:solidFill>
              </a:defRPr>
            </a:pPr>
            <a:r>
              <a:t>Next.js + React, Admin Portal, Terminal UI, PWA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8046720" cy="10058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BACKEND VRSTVA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E6F0"/>
                </a:solidFill>
              </a:defRPr>
            </a:pPr>
            <a:r>
              <a:t>ASP.NET Core API, Business logika, Tarifny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8046720" cy="10058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DATA VRSTVA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E6F0"/>
                </a:solidFill>
              </a:defRPr>
            </a:pPr>
            <a:r>
              <a:t>PostgreSQL, Event log, Audit trail, Zalohovanie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86400"/>
            <a:ext cx="8046720" cy="10058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IoT/HW VRSTVA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E6F0"/>
                </a:solidFill>
              </a:defRPr>
            </a:pPr>
            <a:r>
              <a:t>MQTT Broker, REST adaptery, Mock services, Senzory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297680" y="2697480"/>
            <a:ext cx="548640" cy="274320"/>
          </a:xfrm>
          <a:prstGeom prst="down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297680" y="3977640"/>
            <a:ext cx="548640" cy="274320"/>
          </a:xfrm>
          <a:prstGeom prst="down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4297680" y="5257800"/>
            <a:ext cx="548640" cy="274320"/>
          </a:xfrm>
          <a:prstGeom prst="down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Technologicky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.NET 8 / ASP.NET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Entity Framework Core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PostgreSQL 16+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MQTTnet pre IoT komunikaciu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OpenAPI / Swagger dokumentacia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2628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JWT / OIDC autentifikacia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5544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FRONTEND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01168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1031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Next.js 14+ (App Router)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51460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26060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React 18+ / TypeScript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01752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31089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TailwindCSS styling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52044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React Query / SWR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402336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41148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Playwright E2E testy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4526280"/>
            <a:ext cx="3840480" cy="4114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46177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PWA pre mobilny pristup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t>INFRASTRUKTURA:  Docker  |  Kubernetes  |  Prometheus + Grafana  |  OpenTelemetry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Datovy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65176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80B9"/>
                </a:solidFill>
              </a:defRPr>
            </a:pPr>
            <a:r>
              <a:t>parking_lot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Parkovisko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A5A6"/>
                </a:solidFill>
              </a:defRPr>
            </a:pPr>
            <a:r>
              <a:t>kapacita, timezone, stav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265176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80B9"/>
                </a:solidFill>
              </a:defRPr>
            </a:pPr>
            <a:r>
              <a:t>parking_spot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116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Parkovacie miesto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A5A6"/>
                </a:solidFill>
              </a:defRPr>
            </a:pPr>
            <a:r>
              <a:t>typ (EV/ZTP/std), stav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65176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A085"/>
                </a:solidFill>
              </a:defRPr>
            </a:pPr>
            <a:r>
              <a:t>vehicle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116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Vozidlo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A5A6"/>
                </a:solidFill>
              </a:defRPr>
            </a:pPr>
            <a:r>
              <a:t>SPZ (hash), krajina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108960"/>
            <a:ext cx="265176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A085"/>
                </a:solidFill>
              </a:defRPr>
            </a:pPr>
            <a:r>
              <a:t>parking_session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Parkovacia relacia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A5A6"/>
                </a:solidFill>
              </a:defRPr>
            </a:pPr>
            <a:r>
              <a:t>vjazd, vyjazd, stav, suma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108960"/>
            <a:ext cx="265176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2461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E44AD"/>
                </a:solidFill>
              </a:defRPr>
            </a:pPr>
            <a:r>
              <a:t>payment_intent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5661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Platobny zamer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A5A6"/>
                </a:solidFill>
              </a:defRPr>
            </a:pPr>
            <a:r>
              <a:t>suma, metoda, provider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108960"/>
            <a:ext cx="265176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461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device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5661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Zariadenie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A5A6"/>
                </a:solidFill>
              </a:defRPr>
            </a:pPr>
            <a:r>
              <a:t>typ, protokol, config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663440"/>
            <a:ext cx="265176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006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device_event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20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HW udalost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86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A5A6"/>
                </a:solidFill>
              </a:defRPr>
            </a:pPr>
            <a:r>
              <a:t>typ, payload, timestamp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663440"/>
            <a:ext cx="265176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8006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74C3C"/>
                </a:solidFill>
              </a:defRPr>
            </a:pPr>
            <a:r>
              <a:t>app_user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120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Pouzivatel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486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A5A6"/>
                </a:solidFill>
              </a:defRPr>
            </a:pPr>
            <a:r>
              <a:t>rola, externe 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4663440"/>
            <a:ext cx="2651760" cy="13716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8006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74C3C"/>
                </a:solidFill>
              </a:defRPr>
            </a:pPr>
            <a:r>
              <a:t>audit_log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120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Audit zaznam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486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A5A6"/>
                </a:solidFill>
              </a:defRPr>
            </a:pPr>
            <a:r>
              <a:t>akcia, entita, detaily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Klucove use cases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Vjazd vozidla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495E"/>
                </a:solidFill>
              </a:defRPr>
            </a:pPr>
            <a:r>
              <a:t>LPR precita SPZ -&gt; System overi kapacitu -&gt; Vytvori relaciu -&gt; Otvori zavoru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048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Zobrazenie stavu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495E"/>
                </a:solidFill>
              </a:defRPr>
            </a:pPr>
            <a:r>
              <a:t>Senzory hlasia obsadenost -&gt; System pocita volne miesta -&gt; Aktualizuje tabulu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821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54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Platba za parkovanie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495E"/>
                </a:solidFill>
              </a:defRPr>
            </a:pPr>
            <a:r>
              <a:t>Ridic zada SPZ -&gt; System vypocita cenu -&gt; Ridic zaplati -&gt; System oznaci PAID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59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Vyjazd vozidla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51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495E"/>
                </a:solidFill>
              </a:defRPr>
            </a:pPr>
            <a:r>
              <a:t>LPR precita SPZ -&gt; System overi platbu -&gt; Otvori zavoru -&gt; Uzavrie relaciu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365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09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Nouzovy vyjazd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029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495E"/>
                </a:solidFill>
              </a:defRPr>
            </a:pPr>
            <a:r>
              <a:t>Technik aktivuje fail-open -&gt; System loguje operaciu -&gt; Zavora sa otvori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44068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138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86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Sprava tarifov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06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495E"/>
                </a:solidFill>
              </a:defRPr>
            </a:pPr>
            <a:r>
              <a:t>Admin vytvori tarif -&gt; Nastavi pravidla -&gt; Aktivuje od datumu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Bezpecnost a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4023360" cy="21945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Autentifikacia &amp; Autorizacia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OIDC/OAuth pre admin pristup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JWT bearer tokeny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Role-based access (RBAC)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Least privilege princip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Rate limiting pre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554480"/>
            <a:ext cx="4023360" cy="21945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Ochrana dat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48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TLS pre vsetku komunikaciu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68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SPZ ako osobny udaj (GDPR)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Sifrovanie citlivych dat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Audit log operacii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29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●  Definovana retencia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8229600" cy="18288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E44AD"/>
                </a:solidFill>
              </a:defRPr>
            </a:pPr>
            <a:r>
              <a:t>Klucove compliance poziadavky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4495E"/>
                </a:solidFill>
              </a:defRPr>
            </a:pPr>
            <a:r>
              <a:t>GDPR: SPZ je osobny udaj - potrebna retencna politika, informacna povinnost, prava subjektu</a:t>
            </a:r>
            <a:br/>
            <a:r>
              <a:t>PCI DSS: Minimalizacia scope - neukladat kartove data, delegovat na providera</a:t>
            </a:r>
            <a:br/>
            <a:r>
              <a:t>Audit: Logovanie vsetkych admin operacii, HW udalosti, bezpecnostnych incidentov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Rozdelenie projektu - Tim Clankers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2651760" cy="21031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82880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980B9"/>
                </a:solidFill>
              </a:defRPr>
            </a:pPr>
            <a:r>
              <a:t>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6E6F0"/>
                </a:solidFill>
              </a:defRPr>
            </a:pPr>
            <a:r>
              <a:t>API, logika relacii,</a:t>
            </a:r>
            <a:br/>
            <a:r>
              <a:t>tarifny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554480"/>
            <a:ext cx="2651760" cy="21031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9080" y="182880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A085"/>
                </a:solidFill>
              </a:defRPr>
            </a:pPr>
            <a:r>
              <a:t>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63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6E6F0"/>
                </a:solidFill>
              </a:defRPr>
            </a:pPr>
            <a:r>
              <a:t>Web UI, admin portal,</a:t>
            </a:r>
            <a:br/>
            <a:r>
              <a:t>terminal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554480"/>
            <a:ext cx="2651760" cy="21031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03720" y="182880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</a:defRPr>
            </a:pPr>
            <a:r>
              <a:t>HW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IoT/HW vrstva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063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6E6F0"/>
                </a:solidFill>
              </a:defRPr>
            </a:pPr>
            <a:r>
              <a:t>MQTT, REST adaptery,</a:t>
            </a:r>
            <a:br/>
            <a:r>
              <a:t>mock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840480"/>
            <a:ext cx="2651760" cy="21031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34440" y="411480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251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E44AD"/>
                </a:solidFill>
              </a:defRPr>
            </a:pPr>
            <a:r>
              <a:t>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937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6E6F0"/>
                </a:solidFill>
              </a:defRPr>
            </a:pPr>
            <a:r>
              <a:t>PostgreSQL, migrace,</a:t>
            </a:r>
            <a:br/>
            <a:r>
              <a:t>audit trail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3840480"/>
            <a:ext cx="2651760" cy="21031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69080" y="411480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9080" y="4251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37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6E6F0"/>
                </a:solidFill>
              </a:defRPr>
            </a:pPr>
            <a:r>
              <a:t>Docker, CI/CD,</a:t>
            </a:r>
            <a:br/>
            <a:r>
              <a:t>monitoring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840480"/>
            <a:ext cx="2651760" cy="21031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03720" y="411480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4251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</a:defRPr>
            </a:pPr>
            <a:r>
              <a:t>QA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937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Security/QA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6E6F0"/>
                </a:solidFill>
              </a:defRPr>
            </a:pPr>
            <a:r>
              <a:t>RBAC, testy,</a:t>
            </a:r>
            <a:br/>
            <a:r>
              <a:t>compliance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Odhad prace a naklady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8229600" cy="137160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60-110 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A5A6"/>
                </a:solidFill>
              </a:defRPr>
            </a:pPr>
            <a:r>
              <a:t>160-280 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Core relacie, kapacita, terminal, admin, mock HW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137160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085"/>
                </a:solidFill>
              </a:defRPr>
            </a:pPr>
            <a:r>
              <a:t>Produkcia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40-90 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A5A6"/>
                </a:solidFill>
              </a:defRPr>
            </a:pPr>
            <a:r>
              <a:t>120-240 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Security hardening, monitoring, PITR, load testy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8229600" cy="137160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HW Integracia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937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30-120 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37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A5A6"/>
                </a:solidFill>
              </a:defRPr>
            </a:pPr>
            <a:r>
              <a:t>80-320 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Realne protokoly, certifikacia, tuning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8229600" cy="64008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CELKOM:  130-320 MD  |  360-840 Story Points  |  Zavisle od rozsahu HW integracie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Klucove otazky pre klienta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011680" cy="4114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Offline rezim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27632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Ako ma system fungovat pri vypadku internetu? Edge vs centralne riadenie?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011680" cy="4114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Platobna integracia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267712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Aky poskytovatel platieb? Ktore metody? PCI scope?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011680" cy="4114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0779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Retencia dat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907792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Ako dlho uchovavat SPZ, logy, kamerove zaznamy?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20116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478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SLA/SLO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547872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Pozadovana dostupnost? Reakcne casy podpory? 24/7?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201168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8795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Mobilna aplikacia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187952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Staci PWA, alebo potrebujeme nativnu Android/iOS?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201168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2803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HW protokoly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828032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Preferovane protokoly pre zariadenia? REST, MQTT, ine?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95A5A6"/>
                </a:solidFill>
              </a:defRPr>
            </a:pPr>
            <a:r>
              <a:t>Kompletny zoznam 30+ otazok najdete v dokumente VPSI.md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9144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Roadmapa projektu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7680960" cy="73152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246120"/>
            <a:ext cx="548640" cy="548640"/>
          </a:xfrm>
          <a:prstGeom prst="ellipse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5A5A6"/>
                </a:solidFill>
              </a:defRPr>
            </a:pPr>
            <a: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5A5A6"/>
                </a:solidFill>
              </a:defRPr>
            </a:pPr>
            <a:r>
              <a:t>2 tyzdne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4495E"/>
                </a:solidFill>
              </a:defRPr>
            </a:pPr>
            <a:r>
              <a:t>Upresnenie poziadaviek</a:t>
            </a:r>
            <a:br/>
            <a:r>
              <a:t>a rozhodnuti</a:t>
            </a:r>
          </a:p>
        </p:txBody>
      </p:sp>
      <p:sp>
        <p:nvSpPr>
          <p:cNvPr id="11" name="Oval 10"/>
          <p:cNvSpPr/>
          <p:nvPr/>
        </p:nvSpPr>
        <p:spPr>
          <a:xfrm>
            <a:off x="3108960" y="3246120"/>
            <a:ext cx="548640" cy="5486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3375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980B9"/>
                </a:solidFill>
              </a:defRPr>
            </a:pPr>
            <a:r>
              <a:t>MVP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5A5A6"/>
                </a:solidFill>
              </a:defRPr>
            </a:pPr>
            <a:r>
              <a:t>8-10 tyzdnov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4495E"/>
                </a:solidFill>
              </a:defRPr>
            </a:pPr>
            <a:r>
              <a:t>Datovy model, API,</a:t>
            </a:r>
            <a:br/>
            <a:r>
              <a:t>UI, Mock HW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0" y="3246120"/>
            <a:ext cx="548640" cy="54864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33375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6A085"/>
                </a:solidFill>
              </a:defRPr>
            </a:pPr>
            <a:r>
              <a:t>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5A5A6"/>
                </a:solidFill>
              </a:defRPr>
            </a:pPr>
            <a:r>
              <a:t>4-6 tyzdnov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4495E"/>
                </a:solidFill>
              </a:defRPr>
            </a:pPr>
            <a:r>
              <a:t>Security, audit,</a:t>
            </a:r>
            <a:br/>
            <a:r>
              <a:t>monitoring, zalohy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0" y="324612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33375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5A5A6"/>
                </a:solidFill>
              </a:defRPr>
            </a:pPr>
            <a:r>
              <a:t>4 tyzdne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4495E"/>
                </a:solidFill>
              </a:defRPr>
            </a:pPr>
            <a:r>
              <a:t>E2E testy, UAT,</a:t>
            </a:r>
            <a:br/>
            <a:r>
              <a:t>nasadenie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95A5A6"/>
                </a:solidFill>
              </a:defRPr>
            </a:pPr>
            <a:r>
              <a:t>Casove odhady su orientacne a zavisia od finalizacie poziadaviek a dostupnosti HW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-457200"/>
            <a:ext cx="3200400" cy="3200400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Dakujeme za pozornost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CF0F1"/>
                </a:solidFill>
              </a:defRPr>
            </a:pPr>
            <a:r>
              <a:t>Detailna dokumentacia: VPSI.md v repozitari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Tim Clankers</a:t>
            </a:r>
          </a:p>
          <a:p>
            <a:pPr algn="ctr">
              <a:defRPr sz="1400">
                <a:solidFill>
                  <a:srgbClr val="95A5A6"/>
                </a:solidFill>
              </a:defRPr>
            </a:pPr>
            <a:r>
              <a:t>VPSI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